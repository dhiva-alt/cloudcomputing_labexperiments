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bann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209648" y="365760"/>
            <a:ext cx="7772400" cy="1232921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097280" y="1920240"/>
            <a:ext cx="99943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CLOUD COMPUTING LABORATORY</a:t>
            </a:r>
            <a:endParaRPr lang="en-US" sz="2200" dirty="0"/>
          </a:p>
        </p:txBody>
      </p:sp>
      <p:sp>
        <p:nvSpPr>
          <p:cNvPr id="4" name="Text 1"/>
          <p:cNvSpPr/>
          <p:nvPr/>
        </p:nvSpPr>
        <p:spPr>
          <a:xfrm>
            <a:off x="1097280" y="2423160"/>
            <a:ext cx="999439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CS4V51</a:t>
            </a:r>
            <a:endParaRPr lang="en-US" sz="1600" dirty="0"/>
          </a:p>
        </p:txBody>
      </p:sp>
      <p:sp>
        <p:nvSpPr>
          <p:cNvPr id="5" name="Shape 2"/>
          <p:cNvSpPr/>
          <p:nvPr/>
        </p:nvSpPr>
        <p:spPr>
          <a:xfrm>
            <a:off x="2286000" y="3108960"/>
            <a:ext cx="7616952" cy="960120"/>
          </a:xfrm>
          <a:prstGeom prst="rect">
            <a:avLst/>
          </a:prstGeom>
          <a:solidFill>
            <a:srgbClr val="F2F2F2"/>
          </a:solidFill>
          <a:ln w="12700">
            <a:solidFill>
              <a:srgbClr val="F2F2F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2286000" y="3108960"/>
            <a:ext cx="7616952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B1B4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Ex.No : 01
</a:t>
            </a:r>
            <a:pPr algn="ctr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Virtual Workstation</a:t>
            </a:r>
            <a:endParaRPr lang="en-US" sz="2000" dirty="0"/>
          </a:p>
        </p:txBody>
      </p:sp>
      <p:sp>
        <p:nvSpPr>
          <p:cNvPr id="7" name="Text 4"/>
          <p:cNvSpPr/>
          <p:nvPr/>
        </p:nvSpPr>
        <p:spPr>
          <a:xfrm>
            <a:off x="1371600" y="4343400"/>
            <a:ext cx="94457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Install VirtualBox / VMware / equivalent open-source cloud workstation</a:t>
            </a:r>
            <a:endParaRPr lang="en-US" sz="1500" dirty="0"/>
          </a:p>
          <a:p>
            <a:pPr algn="ctr" indent="0" marL="0">
              <a:buNone/>
            </a:pPr>
            <a:r>
              <a:rPr lang="en-US" sz="15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different flavours of Linux or Windows OS on top of Windows 8 and above.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97280" y="6035040"/>
            <a:ext cx="999439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Engineering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Aim &amp; Overview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43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</a:t>
            </a:r>
            <a:endParaRPr lang="en-US" sz="1800" dirty="0"/>
          </a:p>
        </p:txBody>
      </p:sp>
      <p:sp>
        <p:nvSpPr>
          <p:cNvPr id="6" name="Text 3"/>
          <p:cNvSpPr/>
          <p:nvPr/>
        </p:nvSpPr>
        <p:spPr>
          <a:xfrm>
            <a:off x="548640" y="1554480"/>
            <a:ext cx="557784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install VirtualBox / VMware / an equivalent open-source cloud workstation with different flavours of Linux or Windows OS on top of Windows 8 and above, and to create a guest virtual machine.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Virtualization?</a:t>
            </a:r>
            <a:endParaRPr lang="en-US" sz="180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55778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multiple operating systems on one physical machine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Isolated, safe environment for testing &amp; experimentation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Foundation concept for cloud computing &amp; IaaS</a:t>
            </a:r>
            <a:endParaRPr lang="en-US" sz="14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extra hardware required — uses host machine resources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6492240" y="146304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6492240" y="146304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7543800" y="233172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2" name="Shape 9"/>
          <p:cNvSpPr/>
          <p:nvPr/>
        </p:nvSpPr>
        <p:spPr>
          <a:xfrm>
            <a:off x="6492240" y="265176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92240" y="265176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 OS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7543800" y="352044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6492240" y="384048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1B1B4B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6492240" y="384048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New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7543800" y="4709160"/>
            <a:ext cx="365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99999"/>
                </a:solidFill>
              </a:rPr>
              <a:t>▼</a:t>
            </a:r>
            <a:endParaRPr lang="en-US" sz="1400" dirty="0"/>
          </a:p>
        </p:txBody>
      </p:sp>
      <p:sp>
        <p:nvSpPr>
          <p:cNvPr id="18" name="Shape 15"/>
          <p:cNvSpPr/>
          <p:nvPr/>
        </p:nvSpPr>
        <p:spPr>
          <a:xfrm>
            <a:off x="6492240" y="5029200"/>
            <a:ext cx="2468880" cy="868680"/>
          </a:xfrm>
          <a:prstGeom prst="roundRect">
            <a:avLst>
              <a:gd name="adj" fmla="val 10526"/>
            </a:avLst>
          </a:prstGeom>
          <a:solidFill>
            <a:srgbClr val="2E7D32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76200" dist="25400" dir="5400000">
              <a:srgbClr val="000000">
                <a:alpha val="25000"/>
              </a:srgbClr>
            </a:outerShdw>
          </a:effectLst>
        </p:spPr>
      </p:sp>
      <p:sp>
        <p:nvSpPr>
          <p:cNvPr id="19" name="Text 16"/>
          <p:cNvSpPr/>
          <p:nvPr/>
        </p:nvSpPr>
        <p:spPr>
          <a:xfrm>
            <a:off x="6492240" y="5029200"/>
            <a:ext cx="246888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Guest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(e.g. Win98)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Download &amp; Install (Steps 1–4)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 to the VirtualBox website (virtualbox.org/wiki/Downloads) in the system's browser.</a:t>
            </a:r>
            <a:endParaRPr lang="en-US" sz="1450" dirty="0"/>
          </a:p>
        </p:txBody>
      </p:sp>
      <p:sp>
        <p:nvSpPr>
          <p:cNvPr id="6" name="Text 3"/>
          <p:cNvSpPr/>
          <p:nvPr/>
        </p:nvSpPr>
        <p:spPr>
          <a:xfrm>
            <a:off x="548640" y="210312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Download VirtualBox button on the page.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48640" y="297180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the Windows hosts link under 'VirtualBox 7.0.14 platform packages'.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548640" y="3840480"/>
            <a:ext cx="56692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the downloaded VirtualBox EXE file to launch the installation window.</a:t>
            </a:r>
            <a:endParaRPr lang="en-US" sz="1450" dirty="0"/>
          </a:p>
        </p:txBody>
      </p:sp>
      <p:sp>
        <p:nvSpPr>
          <p:cNvPr id="9" name="Shape 6"/>
          <p:cNvSpPr/>
          <p:nvPr/>
        </p:nvSpPr>
        <p:spPr>
          <a:xfrm>
            <a:off x="548640" y="4892040"/>
            <a:ext cx="5669280" cy="1234440"/>
          </a:xfrm>
          <a:prstGeom prst="roundRect">
            <a:avLst>
              <a:gd name="adj" fmla="val 5926"/>
            </a:avLst>
          </a:prstGeom>
          <a:solidFill>
            <a:srgbClr val="FFF4E5"/>
          </a:solidFill>
          <a:ln w="12700">
            <a:solidFill>
              <a:srgbClr val="FFD599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" y="5074920"/>
            <a:ext cx="5212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 </a:t>
            </a:r>
            <a:pPr indent="0" marL="0">
              <a:buNone/>
            </a:pPr>
            <a:r>
              <a:rPr lang="en-US" sz="13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 the package matching the host OS — here, Windows x86_64.</a:t>
            </a:r>
            <a:endParaRPr lang="en-US" sz="1300" dirty="0"/>
          </a:p>
        </p:txBody>
      </p:sp>
      <p:pic>
        <p:nvPicPr>
          <p:cNvPr id="11" name="Image 1" descr="/home/claude/assets/s1_downloa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280160"/>
            <a:ext cx="5212080" cy="2039226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492240" y="1280160"/>
            <a:ext cx="5212080" cy="203922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6492240" y="3410826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download page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Installation Wizard (Steps 5–10)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5–6: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Next in the Welcome window; choose the installation folder.</a:t>
            </a:r>
            <a:endParaRPr lang="en-US" sz="1400" dirty="0"/>
          </a:p>
        </p:txBody>
      </p:sp>
      <p:sp>
        <p:nvSpPr>
          <p:cNvPr id="6" name="Text 3"/>
          <p:cNvSpPr/>
          <p:nvPr/>
        </p:nvSpPr>
        <p:spPr>
          <a:xfrm>
            <a:off x="548640" y="201168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7: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the features to install (USB support, Networking, Python support), then click Next.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548640" y="278892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8: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Yes to install the Oracle VirtualBox network interfaces.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548640" y="35661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9: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Install to begin copying files to the system.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548640" y="434340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10:  </a:t>
            </a:r>
            <a:pPr indent="0" marL="0">
              <a:buNone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Finish — the installation closes and VirtualBox opens, ready to create a VM.</a:t>
            </a:r>
            <a:endParaRPr lang="en-US" sz="1400" dirty="0"/>
          </a:p>
        </p:txBody>
      </p:sp>
      <p:pic>
        <p:nvPicPr>
          <p:cNvPr id="10" name="Image 1" descr="/home/claude/assets/s2_installcomple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0" y="1463040"/>
            <a:ext cx="5029200" cy="3526334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583680" y="1463040"/>
            <a:ext cx="5029200" cy="3526334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583680" y="5099102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 wizard — installation complete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Procedure — Creating the Virtual Machine (Steps 11–13)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23444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11: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VirtualBox, click New, and fill the form — Name, ISO image, Type &amp; Version of the guest OS.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548640" y="233172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12: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Next and allocate resources: Base Memory = 512 MB, Processors = 1 CPU.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548640" y="3429000"/>
            <a:ext cx="566928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13:  </a:t>
            </a:r>
            <a:pPr indent="0" marL="0">
              <a:buNone/>
            </a:pPr>
            <a:r>
              <a:rPr lang="en-US" sz="15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the Virtual Hard Disk wizard, set Disk Size = 2.00 GB, review the summary, then click Finish.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548640" y="4663440"/>
            <a:ext cx="5669280" cy="1417320"/>
          </a:xfrm>
          <a:prstGeom prst="roundRect">
            <a:avLst>
              <a:gd name="adj" fmla="val 5161"/>
            </a:avLst>
          </a:prstGeom>
          <a:solidFill>
            <a:srgbClr val="EAF3EA"/>
          </a:solidFill>
          <a:ln w="12700">
            <a:solidFill>
              <a:srgbClr val="BFE0BF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77240" y="4800600"/>
            <a:ext cx="52120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E7D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Configuration used:
</a:t>
            </a:r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Name: Windows 98SE   •   Type: Microsoft Windows</a:t>
            </a:r>
            <a:endParaRPr lang="en-US" sz="1300" dirty="0"/>
          </a:p>
          <a:p>
            <a:pPr indent="0" marL="0">
              <a:buNone/>
            </a:pPr>
            <a:r>
              <a:rPr lang="en-US" sz="12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Memory: 512 MB   •   CPU: 1   •   Disk: 2.00 GB</a:t>
            </a:r>
            <a:endParaRPr lang="en-US" sz="1300" dirty="0"/>
          </a:p>
        </p:txBody>
      </p:sp>
      <p:pic>
        <p:nvPicPr>
          <p:cNvPr id="10" name="Image 1" descr="/home/claude/assets/s3_createvm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2240" y="1188720"/>
            <a:ext cx="5212080" cy="4153716"/>
          </a:xfrm>
          <a:prstGeom prst="rect">
            <a:avLst/>
          </a:prstGeom>
        </p:spPr>
      </p:pic>
      <p:sp>
        <p:nvSpPr>
          <p:cNvPr id="11" name="Shape 7"/>
          <p:cNvSpPr/>
          <p:nvPr/>
        </p:nvSpPr>
        <p:spPr>
          <a:xfrm>
            <a:off x="6492240" y="1188720"/>
            <a:ext cx="5212080" cy="41537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492240" y="5452164"/>
            <a:ext cx="5212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 machine name &amp; OS selection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claude/assets/logo_smal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155680" y="228600"/>
            <a:ext cx="822960" cy="60403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274320"/>
            <a:ext cx="10241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A1A1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Guest OS Installation &amp; Result</a:t>
            </a:r>
            <a:endParaRPr lang="en-US" sz="2600" dirty="0"/>
          </a:p>
        </p:txBody>
      </p:sp>
      <p:sp>
        <p:nvSpPr>
          <p:cNvPr id="4" name="Text 1"/>
          <p:cNvSpPr/>
          <p:nvPr/>
        </p:nvSpPr>
        <p:spPr>
          <a:xfrm>
            <a:off x="457200" y="644652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Ex.No: 01</a:t>
            </a:r>
            <a:endParaRPr lang="en-US" sz="1100" dirty="0"/>
          </a:p>
        </p:txBody>
      </p:sp>
      <p:sp>
        <p:nvSpPr>
          <p:cNvPr id="5" name="Text 2"/>
          <p:cNvSpPr/>
          <p:nvPr/>
        </p:nvSpPr>
        <p:spPr>
          <a:xfrm>
            <a:off x="548640" y="1188720"/>
            <a:ext cx="566928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50" b="1" dirty="0">
                <a:solidFill>
                  <a:srgbClr val="1B1B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14–15:  </a:t>
            </a:r>
            <a:pPr indent="0" marL="0">
              <a:buNone/>
            </a:pPr>
            <a:r>
              <a:rPr lang="en-US" sz="145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the virtual machine and follow the on-screen setup to install the guest OS (Windows 98), finally reaching the desktop.</a:t>
            </a:r>
            <a:endParaRPr lang="en-US" sz="1450" dirty="0"/>
          </a:p>
        </p:txBody>
      </p:sp>
      <p:pic>
        <p:nvPicPr>
          <p:cNvPr id="6" name="Image 1" descr="/home/claude/assets/s4_setup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2423160"/>
            <a:ext cx="2697480" cy="1622816"/>
          </a:xfrm>
          <a:prstGeom prst="rect">
            <a:avLst/>
          </a:prstGeom>
        </p:spPr>
      </p:pic>
      <p:sp>
        <p:nvSpPr>
          <p:cNvPr id="7" name="Shape 3"/>
          <p:cNvSpPr/>
          <p:nvPr/>
        </p:nvSpPr>
        <p:spPr>
          <a:xfrm>
            <a:off x="548640" y="2423160"/>
            <a:ext cx="2697480" cy="16228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pic>
        <p:nvPicPr>
          <p:cNvPr id="8" name="Image 2" descr="/home/claude/assets/s5_deskto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29000" y="2423160"/>
            <a:ext cx="2697480" cy="1622816"/>
          </a:xfrm>
          <a:prstGeom prst="rect">
            <a:avLst/>
          </a:prstGeom>
        </p:spPr>
      </p:pic>
      <p:sp>
        <p:nvSpPr>
          <p:cNvPr id="9" name="Shape 4"/>
          <p:cNvSpPr/>
          <p:nvPr/>
        </p:nvSpPr>
        <p:spPr>
          <a:xfrm>
            <a:off x="3429000" y="2423160"/>
            <a:ext cx="2697480" cy="1622816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0" name="Text 5"/>
          <p:cNvSpPr/>
          <p:nvPr/>
        </p:nvSpPr>
        <p:spPr>
          <a:xfrm>
            <a:off x="548640" y="4155704"/>
            <a:ext cx="5577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98 setup running inside VirtualBox, and the completed guest desktop</a:t>
            </a:r>
            <a:endParaRPr lang="en-US" sz="1050" dirty="0"/>
          </a:p>
        </p:txBody>
      </p:sp>
      <p:sp>
        <p:nvSpPr>
          <p:cNvPr id="11" name="Shape 6"/>
          <p:cNvSpPr/>
          <p:nvPr/>
        </p:nvSpPr>
        <p:spPr>
          <a:xfrm>
            <a:off x="548640" y="5074920"/>
            <a:ext cx="5577840" cy="1051560"/>
          </a:xfrm>
          <a:prstGeom prst="roundRect">
            <a:avLst>
              <a:gd name="adj" fmla="val 6957"/>
            </a:avLst>
          </a:prstGeom>
          <a:solidFill>
            <a:srgbClr val="1B1B4B"/>
          </a:solidFill>
          <a:ln w="12700">
            <a:solidFill>
              <a:srgbClr val="1B1B4B"/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777240" y="5193792"/>
            <a:ext cx="51206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
</a:t>
            </a:r>
            <a:pPr indent="0" marL="0">
              <a:buNone/>
            </a:pPr>
            <a:r>
              <a:rPr lang="en-US" sz="1250" dirty="0">
                <a:solidFill>
                  <a:srgbClr val="F0F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was installed successfully on the Windows 10 host, and a Windows 98 guest operating system was created and run successfully.</a:t>
            </a:r>
            <a:endParaRPr lang="en-US" sz="1400" dirty="0"/>
          </a:p>
        </p:txBody>
      </p:sp>
      <p:sp>
        <p:nvSpPr>
          <p:cNvPr id="13" name="Text 8"/>
          <p:cNvSpPr/>
          <p:nvPr/>
        </p:nvSpPr>
        <p:spPr>
          <a:xfrm>
            <a:off x="6583680" y="11887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C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Takeaways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6583680" y="1600200"/>
            <a:ext cx="50292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VirtualBox provides a free, cross-platform virtualization layer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guest OS runs isolated, with its own allocated CPU, RAM &amp; disk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A1A1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VM becomes the base workstation for later experiments (C compiler, Hadoop, Docker, etc.)</a:t>
            </a:r>
            <a:endParaRPr lang="en-US" sz="1400" dirty="0"/>
          </a:p>
        </p:txBody>
      </p:sp>
      <p:sp>
        <p:nvSpPr>
          <p:cNvPr id="15" name="Shape 10"/>
          <p:cNvSpPr/>
          <p:nvPr/>
        </p:nvSpPr>
        <p:spPr>
          <a:xfrm>
            <a:off x="6583680" y="3703320"/>
            <a:ext cx="5029200" cy="2423160"/>
          </a:xfrm>
          <a:prstGeom prst="roundRect">
            <a:avLst>
              <a:gd name="adj" fmla="val 3019"/>
            </a:avLst>
          </a:prstGeom>
          <a:solidFill>
            <a:srgbClr val="F7F7F7"/>
          </a:solidFill>
          <a:ln w="12700">
            <a:solidFill>
              <a:srgbClr val="E0E0E0"/>
            </a:solidFill>
            <a:prstDash val="solid"/>
          </a:ln>
        </p:spPr>
      </p:sp>
      <p:pic>
        <p:nvPicPr>
          <p:cNvPr id="16" name="Image 3" descr="/home/claude/assets/s5_deskto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886200"/>
            <a:ext cx="2926080" cy="1910835"/>
          </a:xfrm>
          <a:prstGeom prst="rect">
            <a:avLst/>
          </a:prstGeom>
        </p:spPr>
      </p:pic>
      <p:sp>
        <p:nvSpPr>
          <p:cNvPr id="17" name="Shape 11"/>
          <p:cNvSpPr/>
          <p:nvPr/>
        </p:nvSpPr>
        <p:spPr>
          <a:xfrm>
            <a:off x="7635240" y="3886200"/>
            <a:ext cx="2926080" cy="1910835"/>
          </a:xfrm>
          <a:prstGeom prst="rect">
            <a:avLst/>
          </a:prstGeom>
          <a:solidFill>
            <a:srgbClr val="FFFFFF">
              <a:alpha val="0"/>
            </a:srgbClr>
          </a:solidFill>
          <a:ln w="12700">
            <a:solidFill>
              <a:srgbClr val="CCCCCC"/>
            </a:solidFill>
            <a:prstDash val="solid"/>
          </a:ln>
        </p:spPr>
      </p:sp>
      <p:sp>
        <p:nvSpPr>
          <p:cNvPr id="18" name="Text 12"/>
          <p:cNvSpPr/>
          <p:nvPr/>
        </p:nvSpPr>
        <p:spPr>
          <a:xfrm>
            <a:off x="6583680" y="5906763"/>
            <a:ext cx="5029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i="1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98 guest desktop</a:t>
            </a:r>
            <a:endParaRPr lang="en-US" sz="1050" dirty="0"/>
          </a:p>
        </p:txBody>
      </p:sp>
      <p:sp>
        <p:nvSpPr>
          <p:cNvPr id="19" name="Text 13"/>
          <p:cNvSpPr/>
          <p:nvPr/>
        </p:nvSpPr>
        <p:spPr>
          <a:xfrm>
            <a:off x="10972800" y="6446520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55555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21/08/2026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2026-08-21T04:05:47Z</dcterms:created>
  <dcterms:modified xsi:type="dcterms:W3CDTF">2026-08-21T04:05:47Z</dcterms:modified>
</cp:coreProperties>
</file>